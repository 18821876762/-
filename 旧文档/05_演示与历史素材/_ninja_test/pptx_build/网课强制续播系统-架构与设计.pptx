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模块数</c:v>
                </c:pt>
              </c:strCache>
            </c:strRef>
          </c:tx>
          <c:spPr>
            <a:solidFill>
              <a:srgbClr val="16C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C7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5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DE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6D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25C7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接管层</c:v>
                  </c:pt>
                  <c:pt idx="1">
                    <c:v>站点适配</c:v>
                  </c:pt>
                  <c:pt idx="2">
                    <c:v>插件工具库</c:v>
                  </c:pt>
                  <c:pt idx="3">
                    <c:v>表现层</c:v>
                  </c:pt>
                  <c:pt idx="4">
                    <c:v>外部平台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12</c:v>
                </c:pt>
                <c:pt idx="2">
                  <c:v>7</c:v>
                </c:pt>
                <c:pt idx="3">
                  <c:v>13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6C79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474720"/>
            <a:ext cx="3291840" cy="3291840"/>
          </a:xfrm>
          <a:prstGeom prst="ellipse">
            <a:avLst/>
          </a:prstGeom>
          <a:solidFill>
            <a:srgbClr val="F4A25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 · 系统架构与设计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浏览器用户脚本（Tampermonkey / Violentmonkey） · 多平台网课自动化接管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强制续播  ·  智能答题  ·  视觉对抗  ·  外部平台联动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4800600"/>
            <a:ext cx="5669280" cy="0"/>
          </a:xfrm>
          <a:prstGeom prst="line">
            <a:avLst/>
          </a:prstGeom>
          <a:noFill/>
          <a:ln w="19050">
            <a:solidFill>
              <a:srgbClr val="16C7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ecosystem/src/chaoxing-force-play   ·   perception/   ·   build-force-play.ps1   ·   _sim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系统总览：它是什么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一个注入到网课页面主世界的单文件用户脚本，在 11+ 平台上实现「接管视频、自动答题、对抗混淆、联动外部」四大能力。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58568"/>
            <a:ext cx="82296" cy="160934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41448"/>
            <a:ext cx="502920" cy="50292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24231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强制续播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30632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接管视频播放，中和平台反挂机检测（静音劫持 / 暂停按钮禁用 / 1x 速率限制 / 水印 / 弹窗干扰），播放结束自动跳下一节。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21488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258568"/>
            <a:ext cx="82296" cy="160934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4" name="Shape 12"/>
          <p:cNvSpPr/>
          <p:nvPr/>
        </p:nvSpPr>
        <p:spPr>
          <a:xfrm>
            <a:off x="6720840" y="2441448"/>
            <a:ext cx="502920" cy="50292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06640" y="24231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智能答题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766560" y="30632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对作业 / 章节 / 考试题「真答题」：抓题干+选项 → 可插拔答案源求答案回填；对上课弹窗随机作答以消除干扰保续播。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976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407408"/>
            <a:ext cx="82296" cy="160934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590288"/>
            <a:ext cx="502920" cy="50292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45720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视觉对抗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60120" y="52120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题干被同形字 / 字体映射 / Canvas 混淆时，把题目截图后由 OCR 或多模态 AI 还原真实文本，再以截图为准作答。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42976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407408"/>
            <a:ext cx="82296" cy="1609344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26" name="Shape 24"/>
          <p:cNvSpPr/>
          <p:nvPr/>
        </p:nvSpPr>
        <p:spPr>
          <a:xfrm>
            <a:off x="6720840" y="4590288"/>
            <a:ext cx="502920" cy="502920"/>
          </a:xfrm>
          <a:prstGeom prst="ellipse">
            <a:avLst/>
          </a:prstGeom>
          <a:solidFill>
            <a:srgbClr val="9B6DD6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06640" y="45720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外部联动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766560" y="52120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Python 采集爬虫接收浏览器侧采集数据，并将题库回灌给答题引擎，形成「采集 → 落库 → 答题」闭环。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PLATFORMS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目标与适用平台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64208"/>
            <a:ext cx="82296" cy="170078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11+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主流网课平台覆盖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15544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detectSite() 按 host 识别站点，各平台逻辑集中于 sites/ 适配层；新增平台 = 新增 sites/*.js + 在 SITES 登记，核心引擎无需改动。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023360" y="2697480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2953512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69748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超星学习通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1112" y="2697480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12280" y="2953512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5" name="Text 13"/>
          <p:cNvSpPr/>
          <p:nvPr/>
        </p:nvSpPr>
        <p:spPr>
          <a:xfrm>
            <a:off x="7114032" y="269748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学银在线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98864" y="2697480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00032" y="2953512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8" name="Text 16"/>
          <p:cNvSpPr/>
          <p:nvPr/>
        </p:nvSpPr>
        <p:spPr>
          <a:xfrm>
            <a:off x="9701784" y="269748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智慧树 / 知到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3685032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24528" y="3941064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68503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中国大学 MOOC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11112" y="3685032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3941064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4" name="Text 22"/>
          <p:cNvSpPr/>
          <p:nvPr/>
        </p:nvSpPr>
        <p:spPr>
          <a:xfrm>
            <a:off x="7114032" y="368503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icourse163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198864" y="3685032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00032" y="3941064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7" name="Text 25"/>
          <p:cNvSpPr/>
          <p:nvPr/>
        </p:nvSpPr>
        <p:spPr>
          <a:xfrm>
            <a:off x="9701784" y="368503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学堂在线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23360" y="4672584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24528" y="4928616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467258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ICVE（智慧职教）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11112" y="4672584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12280" y="4928616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3" name="Text 31"/>
          <p:cNvSpPr/>
          <p:nvPr/>
        </p:nvSpPr>
        <p:spPr>
          <a:xfrm>
            <a:off x="7114032" y="467258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实验空间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98864" y="4672584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400032" y="4928616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6" name="Text 34"/>
          <p:cNvSpPr/>
          <p:nvPr/>
        </p:nvSpPr>
        <p:spPr>
          <a:xfrm>
            <a:off x="9701784" y="467258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人卫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023360" y="5660136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24528" y="5916168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566013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Unipus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11112" y="5660136"/>
            <a:ext cx="23317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12280" y="5916168"/>
            <a:ext cx="201168" cy="20116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42" name="Text 40"/>
          <p:cNvSpPr/>
          <p:nvPr/>
        </p:nvSpPr>
        <p:spPr>
          <a:xfrm>
            <a:off x="7114032" y="566013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 校园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分层架构：六层 + 构建验证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09928"/>
            <a:ext cx="82296" cy="804672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164592" cy="1024128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4650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 Presentation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671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D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模块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474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panel / panel-core / panel-drag / dashboard / ds-console / toast 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53712" y="2624328"/>
            <a:ext cx="36576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7863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98648"/>
            <a:ext cx="82296" cy="80467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788920"/>
            <a:ext cx="164592" cy="1024128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93522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 · 工具库层 Plugins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355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 + 6 addons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474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auto-next · keyboard · quiet-popups · tamper-guard · ended-notify · zh-auto-next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53712" y="3813048"/>
            <a:ext cx="36576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3977640"/>
            <a:ext cx="7863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87368"/>
            <a:ext cx="82296" cy="804672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977640"/>
            <a:ext cx="164592" cy="1024128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1239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站点适配层 Sites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4544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文件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977640"/>
            <a:ext cx="3474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chaoxing-exam · zhihuishu · zhihuishu-exam · icourse163 · icve · ilabx 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53712" y="5001768"/>
            <a:ext cx="36576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0080" y="5166360"/>
            <a:ext cx="7863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5276088"/>
            <a:ext cx="82296" cy="804672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166360"/>
            <a:ext cx="164592" cy="1024128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31266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接管层 Takeover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57332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foundation 9 + engine 11 + dom 3 + bootstrap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5166360"/>
            <a:ext cx="3474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site-router · state · quiz · quiz-vision · bridge · playback · policy …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8696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/ 构建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69680" y="173736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869680" y="1847088"/>
            <a:ext cx="82296" cy="1463040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1938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外部平台层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14400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采集爬虫 · DeepSeek 网页版 · 外部 CDN（html2canvas / tesseract）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869680" y="361188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869680" y="3721608"/>
            <a:ext cx="82296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0" y="3813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&amp; 验证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144000" y="42519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build-force-play.ps1 拼接单文件 · _sim 沙箱回归 31+ 用例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41080" y="2468880"/>
            <a:ext cx="228600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641080" y="21488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 → 外部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运行期全部逻辑位于单一 IIFE 内，模块间以 @provides / @requires 注释元标注声明依赖，靠闭包共享全局名协作。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TAKEOVER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接管层：模块清单（24 模块）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09928"/>
            <a:ext cx="82296" cy="407822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3657600" cy="64008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基础能力 foundation（9）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site-router · detectSite/SITES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· 跨 iframe 全局 store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 / keys · CX_KEYS 键名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meta-config · CONFIG / CONST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 · 运行环境探测 / URL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error-guard · 容错守卫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（另含 metrics 运行指标）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709928"/>
            <a:ext cx="82296" cy="407822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600200"/>
            <a:ext cx="3657600" cy="64008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00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 engine（11）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00600" y="246888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bridge · 跨 iframe 桥接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quiz · 站点无关真答题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quiz-vision · 视觉对抗层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vision-deepseek-web · DeepSeek 后端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dedup · 指纹去重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playback · 播放/续播引擎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· 中和策略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foreground / targeting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stats / quiz-merge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0" y="160020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1709928"/>
            <a:ext cx="82296" cy="407822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1600200"/>
            <a:ext cx="3657600" cy="6400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1600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 &amp; 引导（4）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0" y="246888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 · selectorOverrides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lifecycle · 元素挂载观测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· 视频会话上下文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bootstrap/main-loop · 主循环状态机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站点隔离的唯一事实源 = site-router.detectSite()；跨 iframe 状态由顶层帧 owner 持有单一事实源（R5 防卸载冻结）。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FLOW · PLAYBACK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核心能力①：强制续播防护流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21408"/>
            <a:ext cx="82296" cy="15179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Shape 5"/>
          <p:cNvSpPr/>
          <p:nvPr/>
        </p:nvSpPr>
        <p:spPr>
          <a:xfrm>
            <a:off x="1650492" y="2240280"/>
            <a:ext cx="585216" cy="585216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1650492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扫描到 video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overrideVideo 接管事件与属性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2880360"/>
            <a:ext cx="28346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2121408"/>
            <a:ext cx="82296" cy="151790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6572" y="2240280"/>
            <a:ext cx="585216" cy="585216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6572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站内中立化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静音·取消暂停禁用·强制 play·1x 速率·隐藏水印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0488" y="2880360"/>
            <a:ext cx="28346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92240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2121408"/>
            <a:ext cx="82296" cy="151790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21" name="Shape 19"/>
          <p:cNvSpPr/>
          <p:nvPr/>
        </p:nvSpPr>
        <p:spPr>
          <a:xfrm>
            <a:off x="7502652" y="2240280"/>
            <a:ext cx="585216" cy="58521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2" name="Text 20"/>
          <p:cNvSpPr/>
          <p:nvPr/>
        </p:nvSpPr>
        <p:spPr>
          <a:xfrm>
            <a:off x="7502652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 ended？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ended 事件 / 保活轮询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16568" y="2880360"/>
            <a:ext cx="28346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418320" y="20116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0" y="2121408"/>
            <a:ext cx="82296" cy="1517904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28732" y="2240280"/>
            <a:ext cx="585216" cy="585216"/>
          </a:xfrm>
          <a:prstGeom prst="ellipse">
            <a:avLst/>
          </a:prstGeom>
          <a:solidFill>
            <a:srgbClr val="9B6DD6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8732" y="22402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60120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自动下一节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0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 nextUrl / auto-next 插件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434340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4453128"/>
            <a:ext cx="82296" cy="1152144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4453128"/>
            <a:ext cx="82296" cy="1152144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弹窗干扰分支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4937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检测到弹窗 →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popupQuizTick 随机作答 + 删弹窗，消除干扰以保证续播不受影响（与追求正确率的 quiz 不同）。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主场景：超星 / 学银 / MOOC。反挂机中和由 policy.js 统一处理，避免在各站点散落逻辑。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FLOW · QUIZ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核心能力②：智能答题（真答题）流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75688"/>
            <a:ext cx="82296" cy="147218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Shape 5"/>
          <p:cNvSpPr/>
          <p:nvPr/>
        </p:nvSpPr>
        <p:spPr>
          <a:xfrm>
            <a:off x="1394460" y="2167128"/>
            <a:ext cx="548640" cy="54864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1394460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抓题干/选项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selector 并集 · _pqQueryAll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06624" y="281178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62072" y="19659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62072" y="2075688"/>
            <a:ext cx="82296" cy="147218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6452" y="2167128"/>
            <a:ext cx="548640" cy="54864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3616452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71800" y="283464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指纹去重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971800" y="320040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_quizHandled 防重复作答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28616" y="281178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84064" y="19659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4064" y="2075688"/>
            <a:ext cx="82296" cy="147218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1" name="Shape 19"/>
          <p:cNvSpPr/>
          <p:nvPr/>
        </p:nvSpPr>
        <p:spPr>
          <a:xfrm>
            <a:off x="5838444" y="2167128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2" name="Text 20"/>
          <p:cNvSpPr/>
          <p:nvPr/>
        </p:nvSpPr>
        <p:spPr>
          <a:xfrm>
            <a:off x="5838444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93792" y="283464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93792" y="320040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 / bank / ai / deepseek-web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50608" y="281178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06056" y="19659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06056" y="2075688"/>
            <a:ext cx="82296" cy="1472184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28" name="Shape 26"/>
          <p:cNvSpPr/>
          <p:nvPr/>
        </p:nvSpPr>
        <p:spPr>
          <a:xfrm>
            <a:off x="8060436" y="2167128"/>
            <a:ext cx="548640" cy="548640"/>
          </a:xfrm>
          <a:prstGeom prst="ellipse">
            <a:avLst/>
          </a:prstGeom>
          <a:solidFill>
            <a:srgbClr val="9B6DD6"/>
          </a:solidFill>
          <a:ln/>
        </p:spPr>
      </p:sp>
      <p:sp>
        <p:nvSpPr>
          <p:cNvPr id="29" name="Text 27"/>
          <p:cNvSpPr/>
          <p:nvPr/>
        </p:nvSpPr>
        <p:spPr>
          <a:xfrm>
            <a:off x="8060436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15784" y="283464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回填选项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15784" y="320040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DOM 选中态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372600" y="281178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528048" y="196596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528048" y="2075688"/>
            <a:ext cx="82296" cy="1472184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82428" y="2167128"/>
            <a:ext cx="548640" cy="548640"/>
          </a:xfrm>
          <a:prstGeom prst="ellipse">
            <a:avLst/>
          </a:prstGeom>
          <a:solidFill>
            <a:srgbClr val="E25C7A"/>
          </a:solidFill>
          <a:ln/>
        </p:spPr>
      </p:sp>
      <p:sp>
        <p:nvSpPr>
          <p:cNvPr id="36" name="Text 34"/>
          <p:cNvSpPr/>
          <p:nvPr/>
        </p:nvSpPr>
        <p:spPr>
          <a:xfrm>
            <a:off x="10282428" y="2167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637776" y="283464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二次确认提交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637776" y="320040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 handled → 提交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3977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087368"/>
            <a:ext cx="82296" cy="165506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可插拔答案源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68680" y="45262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 — 兜底随机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— 本地题库（可由 Python 爬虫回灌）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— 自建端点多模态识别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deepseek-web — 跨页视觉问 DeepSeek（截图+提示词）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09360" y="397764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09360" y="4087368"/>
            <a:ext cx="82296" cy="1655064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 AI 模式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653796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任何答案源失败都「停下报错」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绝不随机兜底，进入冷却重试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内存护栏：指纹/队列带上限淘汰与 TTL，防超长会话无限增长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源异步回填 quizBank，后续同题命中 bank，减少重复请求。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FLOW ·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核心能力③：视觉对抗（抗文本混淆）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01368"/>
            <a:ext cx="82296" cy="3986784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5212080" cy="640080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问题：DOM 文本不可信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平台对题干做 同形字替换 / 字体映射 / Canvas 渲染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 textContent 与肉眼所见不一致（「假字」）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若直接读 DOM 文本作答 → 答非所问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html2canvas 被 CDN 拦截时，靠多镜像 + 自定义地址兜底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01368"/>
            <a:ext cx="82296" cy="398678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691640"/>
            <a:ext cx="5303520" cy="64008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91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解法：一律以截图为准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quiz-vision 多镜像 html2canvas 截图题目区域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tesseract 本地 OCR 还原文本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endpoint 多模态 AI 返回 text + answer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deepseek-web 跨页问 DeepSeek 截图 + 提示词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隐私优先：外部 CDN 须显式授权才加载，未授权静默拦截并 toast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FLOW · 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核心能力④：跨进程桥接（浏览器 → Python）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21408"/>
            <a:ext cx="82296" cy="147218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Shape 5"/>
          <p:cNvSpPr/>
          <p:nvPr/>
        </p:nvSpPr>
        <p:spPr>
          <a:xfrm>
            <a:off x="1394460" y="2212848"/>
            <a:ext cx="548640" cy="54864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139446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28803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浏览器脚本采集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324612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bridge / progress-panel /media-collector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06624" y="285750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62072" y="20116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62072" y="2121408"/>
            <a:ext cx="82296" cy="147218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16452" y="2212848"/>
            <a:ext cx="548640" cy="54864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5" name="Text 13"/>
          <p:cNvSpPr/>
          <p:nvPr/>
        </p:nvSpPr>
        <p:spPr>
          <a:xfrm>
            <a:off x="3616452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71800" y="28803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采集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324612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发送至本地 HTTP 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28616" y="285750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84064" y="20116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84064" y="2121408"/>
            <a:ext cx="82296" cy="147218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21" name="Shape 19"/>
          <p:cNvSpPr/>
          <p:nvPr/>
        </p:nvSpPr>
        <p:spPr>
          <a:xfrm>
            <a:off x="5838444" y="2212848"/>
            <a:ext cx="548640" cy="54864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2" name="Text 20"/>
          <p:cNvSpPr/>
          <p:nvPr/>
        </p:nvSpPr>
        <p:spPr>
          <a:xfrm>
            <a:off x="5838444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193792" y="28803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bridge.py 落库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93792" y="324612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output/ 落 json · html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50608" y="285750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06056" y="20116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06056" y="2121408"/>
            <a:ext cx="82296" cy="1472184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28" name="Shape 26"/>
          <p:cNvSpPr/>
          <p:nvPr/>
        </p:nvSpPr>
        <p:spPr>
          <a:xfrm>
            <a:off x="8060436" y="2212848"/>
            <a:ext cx="548640" cy="548640"/>
          </a:xfrm>
          <a:prstGeom prst="ellipse">
            <a:avLst/>
          </a:prstGeom>
          <a:solidFill>
            <a:srgbClr val="9B6DD6"/>
          </a:solidFill>
          <a:ln/>
        </p:spPr>
      </p:sp>
      <p:sp>
        <p:nvSpPr>
          <p:cNvPr id="29" name="Text 27"/>
          <p:cNvSpPr/>
          <p:nvPr/>
        </p:nvSpPr>
        <p:spPr>
          <a:xfrm>
            <a:off x="8060436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15784" y="28803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题库回灌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15784" y="324612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quizBank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372600" y="285750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528048" y="2011680"/>
            <a:ext cx="2057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528048" y="2121408"/>
            <a:ext cx="82296" cy="1472184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82428" y="2212848"/>
            <a:ext cx="548640" cy="548640"/>
          </a:xfrm>
          <a:prstGeom prst="ellipse">
            <a:avLst/>
          </a:prstGeom>
          <a:solidFill>
            <a:srgbClr val="E25C7A"/>
          </a:solidFill>
          <a:ln/>
        </p:spPr>
      </p:sp>
      <p:sp>
        <p:nvSpPr>
          <p:cNvPr id="36" name="Text 34"/>
          <p:cNvSpPr/>
          <p:nvPr/>
        </p:nvSpPr>
        <p:spPr>
          <a:xfrm>
            <a:off x="10282428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637776" y="2880360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bank 答案源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37776" y="3246120"/>
            <a:ext cx="18379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quiz.js 命中本地题库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4114800"/>
            <a:ext cx="10972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224528"/>
            <a:ext cx="82296" cy="1472184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80" y="4224528"/>
            <a:ext cx="82296" cy="1463040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4297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perception/ 采集爬虫（cx_crawler/）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60120" y="4754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bridge.py（本地 HTTP 桥） · chapters.py · courses.py · quizzes.py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dump.py · render.py · session.py · api_client.py · heartbeat.py · config.py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输出落 output/ → 题库回灌 __CX_FORCE_PLAY.quizBank（键 CX_KEYS.QUIZ_BANK）→ bank 答案源直接命中。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SITES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站点适配层：12 个站点文件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55648"/>
            <a:ext cx="82296" cy="398678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3657600" cy="64008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45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主流网课（真答题）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chaoxing-exam.js（超星/学银）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zhihuishu.js（智慧树/知到）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zhihuishu-exam.js（作业/考试）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icourse163.js（中国大学 MOOC）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xuetangx.js（学堂在线）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755648"/>
            <a:ext cx="82296" cy="398678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645920"/>
            <a:ext cx="3657600" cy="64008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45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职教 / 实验 / 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51460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icve.js（智慧职教）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ilabx.js（实验空间）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renwei.js（人卫）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unipus.js（Unipus）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ucampus.js（U 校园）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64592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1755648"/>
            <a:ext cx="82296" cy="398678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1645920"/>
            <a:ext cx="3657600" cy="6400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1645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共享骨架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251460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quiz-selectors.js（选择器并集）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popup-quiz.js（弹窗随机作答）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各站提供 selectors 同构映射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quizTick / popupQuizTick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暴露站点专属能力接口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站点隔离：新增平台只需新增 sites/*.js + 在 SITES 登记，核心引擎（quiz / quiz-vision / playback）零改动。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PLUGINS &amp; UI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插件·工具库层 与 表现层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01368"/>
            <a:ext cx="82296" cy="398678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00" cy="64008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 · 工具库层（registry + 6 addons）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registry.js — 插件注册表（__cxRegisterAddon / __cxRegisterCommand）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auto-next.js — 自动下一节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keyboard-shortcuts.js — 快捷键（P 开关面板）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quiet-popups.js — 静默弹窗消干扰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tamper-guard.js — 防篡改守卫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video-ended-notify.js — 视频结束通知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zhihuishu-auto-next.js — 智慧树自动下一节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01368"/>
            <a:ext cx="82296" cy="398678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691640"/>
            <a:ext cx="5303520" cy="6400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91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 Presentation（13 模块）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panel / panel-core — 总装 + 跨帧 owner 抢占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panel-drag — Ninja FAB 拖拽（lostpointercapture 自愈）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panel-template — 场景自适应（强制续播 / 作业助手 / 应答端控制台）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panel-controls — 控件持久化到 localStorage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panel-ds-console — DeepSeek 应答端控制台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/ diagnostics / commands / toast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panel-toast-feed / styles / zhihuishu-fab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MAIN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启动接管 &amp; 主循环状态机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0136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5212080" cy="54864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启动流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脚本注入（IIFE）→ meta.js 构建 __CX_FORCE_PLAY 命名空间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 state / storage / CONFIG / site-router / utils(环境探测)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main-loop 启动定时 tick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01368"/>
            <a:ext cx="82296" cy="174650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691640"/>
            <a:ext cx="5303520" cy="548640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91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 tick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detectSite() → currentSiteCfg() 取能力集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_pqQueryAll 扫描 video / 题目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overrideVideo 接管 + 站内中立化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按站点执行 答题 / 续播 / 面板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972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87368"/>
            <a:ext cx="82296" cy="165506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977640"/>
            <a:ext cx="10972800" cy="5486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事件流：事件上行 + 存储下行（单向数据流）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 / bootstrap 只发事件 → EventBus.emit(ui:toast / ui:status / videos:scanned / ds-*)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presentation 只订阅渲染 → 用户操作写 localStorage(CX_KEYS) → 配置热更新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main-loop 下一 tick 读取最新配置 → 形成「事件上行 + 存储下行」闭环，UI 与逻辑解耦。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· CONTRACTS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跨模块契约（共享全局名）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状态命名空间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window.__CX_FORCE_PLAY（state store / toolkit / quizBank / DS 状态）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插件契约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__cxAddonQueue / __cxRegisterAddon / __cxRegisterCommand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/ 常量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 / CONST / CX_KEYS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事件总线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EventBus：ui:toast / ui:status / videos:scanned / targets:updated / zh-exam:state / ds-*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工具函数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bestEffort / safeGet / swallow / lsGet / lsSet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站点 / 续播 / 答题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detectSite / currentVideo / allVideos / foregroundVideo · applyUserRateAll / savePanelCfg · quizTick / popupQuizTick / dsAvailable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契约是 UI 与逻辑解耦的核心：engine/bootstrap 仅发事件，presentation 仅订阅渲染；新增模块须遵守同一组全局名。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· DESIGN (1/2)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关键设计模式与决策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4708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93392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19751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 IIFE + 元标注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 源文件开发期分文件，@provides/@requires 声明依赖，构建拼为单个 .user.js；闭包共享全局名，绕开 ESM 兼容问题。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737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84708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0840" y="1993392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52360" y="19751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站点隔离 detectSite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66560" y="26060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所有站点逻辑经 currentSiteCfg() 取能力集，核心引擎禁止散落 @match host 判断；新增平台零改核心。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27024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416552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16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4398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答案源可插拔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60120" y="50292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quiz.js 不编造答案：random/bank/ai/deepseek-web 可切换；严格 AI 模式失败即报错，不随机兜底。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41605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427024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5" name="Shape 23"/>
          <p:cNvSpPr/>
          <p:nvPr/>
        </p:nvSpPr>
        <p:spPr>
          <a:xfrm>
            <a:off x="6720840" y="4416552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416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52360" y="4398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视觉对抗（抗混淆）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66560" y="50292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题干被混淆时 DOM 不可信，一律截图经 OCR / 多模态 AI 还原。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· DESIGN (2/2)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关键设计模式与决策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4708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93392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19751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隐私优先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 CDN（html2canvas/tesseract）须显式授权才加载；未授权静默拦截并 toast 提示。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17373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84708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0840" y="1993392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52360" y="19751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iframe / 跨域鲁棒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66560" y="26060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面板挂顶层帧保证全站唯一；跨域不可达 safeGet 回退本帧；owner 抢占(R5)+缓存自愈(R11)防面板消失。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27024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416552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16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4398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内存护栏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60120" y="50292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指纹/队列带上限淘汰与 TTL，防超长会话无限增长。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41605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4270248"/>
            <a:ext cx="82296" cy="17465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25" name="Shape 23"/>
          <p:cNvSpPr/>
          <p:nvPr/>
        </p:nvSpPr>
        <p:spPr>
          <a:xfrm>
            <a:off x="6720840" y="4416552"/>
            <a:ext cx="566928" cy="566928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416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52360" y="43982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 diff 优化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66560" y="502920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MutationObserver 递增 _quizDirtyGen，指纹跨 tick 缓存(WeakMap)，稳态零重算 textContent。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· BUILD &amp; VERIFY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构建与验证链路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47088"/>
            <a:ext cx="82296" cy="115214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src/*.js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 个源文件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06624" y="242316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62072" y="1847088"/>
            <a:ext cx="82296" cy="115214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build-manifest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99232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域顺序单一事实源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28616" y="242316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84064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84064" y="1847088"/>
            <a:ext cx="82296" cy="1152144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7" name="Text 15"/>
          <p:cNvSpPr/>
          <p:nvPr/>
        </p:nvSpPr>
        <p:spPr>
          <a:xfrm>
            <a:off x="5221224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build.ps1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21224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拼接+多镜像+校验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50608" y="242316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06056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06056" y="1847088"/>
            <a:ext cx="82296" cy="1152144"/>
          </a:xfrm>
          <a:prstGeom prst="rect">
            <a:avLst/>
          </a:prstGeom>
          <a:solidFill>
            <a:srgbClr val="9B6DD6"/>
          </a:solidFill>
          <a:ln/>
        </p:spPr>
      </p:sp>
      <p:sp>
        <p:nvSpPr>
          <p:cNvPr id="22" name="Text 20"/>
          <p:cNvSpPr/>
          <p:nvPr/>
        </p:nvSpPr>
        <p:spPr>
          <a:xfrm>
            <a:off x="7443216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user.js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43216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单文件产物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72600" y="2423160"/>
            <a:ext cx="14630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28048" y="17373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28048" y="1847088"/>
            <a:ext cx="82296" cy="1152144"/>
          </a:xfrm>
          <a:prstGeom prst="rect">
            <a:avLst/>
          </a:prstGeom>
          <a:solidFill>
            <a:srgbClr val="E25C7A"/>
          </a:solidFill>
          <a:ln/>
        </p:spPr>
      </p:sp>
      <p:sp>
        <p:nvSpPr>
          <p:cNvPr id="27" name="Text 25"/>
          <p:cNvSpPr/>
          <p:nvPr/>
        </p:nvSpPr>
        <p:spPr>
          <a:xfrm>
            <a:off x="9665208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_sim 回归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65208" y="2514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31+ 沙箱用例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556748" y="3246120"/>
            <a:ext cx="914" cy="0"/>
          </a:xfrm>
          <a:prstGeom prst="line">
            <a:avLst/>
          </a:prstGeom>
          <a:noFill/>
          <a:ln w="31750">
            <a:solidFill>
              <a:srgbClr val="6B779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556748" y="3246120"/>
            <a:ext cx="-8247888" cy="0"/>
          </a:xfrm>
          <a:prstGeom prst="line">
            <a:avLst/>
          </a:prstGeom>
          <a:noFill/>
          <a:ln w="19050">
            <a:solidFill>
              <a:srgbClr val="6B7790"/>
            </a:solidFill>
            <a:prstDash val="dash"/>
            <a:headEnd type="triangl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73736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回退重构建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" y="35661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3675888"/>
            <a:ext cx="82296" cy="2066544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3566160"/>
            <a:ext cx="82296" cy="228600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构建要点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14400" y="41148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拼接：meta.js + core.js(开 IIFE) + takeover → sites → plugins → presentation + })();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main-loop 为 takeover 域内末位，整体末位为 IIFE 闭合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卡控：node --check + _sim 回归（ninja / quiz-vision / zh-exam / popup-block）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0" y="3566160"/>
            <a:ext cx="7040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3675888"/>
            <a:ext cx="82296" cy="2066544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3566160"/>
            <a:ext cx="82296" cy="228600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源码模块分布（按层）</a:t>
            </a:r>
            <a:endParaRPr lang="en-US" sz="14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4754880" y="3977640"/>
          <a:ext cx="66751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Text 39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网课强制续播系统 · 架构与设计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943600" cy="5943600"/>
          </a:xfrm>
          <a:prstGeom prst="ellipse">
            <a:avLst/>
          </a:prstGeom>
          <a:solidFill>
            <a:srgbClr val="16C79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828800"/>
            <a:ext cx="4114800" cy="4114800"/>
          </a:xfrm>
          <a:prstGeom prst="ellipse">
            <a:avLst/>
          </a:prstGeom>
          <a:solidFill>
            <a:srgbClr val="F4A25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C7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一套可扩展的网课自动化接管系统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5244A"/>
          </a:solidFill>
          <a:ln w="12700">
            <a:solidFill>
              <a:srgbClr val="2A3C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4500" y="2999232"/>
            <a:ext cx="548640" cy="54864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2999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657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分层清晰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404164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 / 站点 / 插件 / 表现 / 外部 五层 + 构建验证，边界明确、职责单一。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7432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5244A"/>
          </a:solidFill>
          <a:ln w="12700">
            <a:solidFill>
              <a:srgbClr val="2A3C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46220" y="2999232"/>
            <a:ext cx="548640" cy="54864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4" name="Text 12"/>
          <p:cNvSpPr/>
          <p:nvPr/>
        </p:nvSpPr>
        <p:spPr>
          <a:xfrm>
            <a:off x="4046220" y="2999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3657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站点隔离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29000" y="404164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detectSite 为唯一事实源，新平台零改核心引擎，适配成本极低。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7432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5244A"/>
          </a:solidFill>
          <a:ln w="12700">
            <a:solidFill>
              <a:srgbClr val="2A3C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7940" y="2999232"/>
            <a:ext cx="548640" cy="54864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19" name="Text 17"/>
          <p:cNvSpPr/>
          <p:nvPr/>
        </p:nvSpPr>
        <p:spPr>
          <a:xfrm>
            <a:off x="6377940" y="2999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715000" y="3657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答案可插拔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404164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random/bank/ai/deepseek-web 可切换，严格 AI 模式保正确率。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27432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5244A"/>
          </a:solidFill>
          <a:ln w="12700">
            <a:solidFill>
              <a:srgbClr val="2A3C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09660" y="2999232"/>
            <a:ext cx="548640" cy="54864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4" name="Text 22"/>
          <p:cNvSpPr/>
          <p:nvPr/>
        </p:nvSpPr>
        <p:spPr>
          <a:xfrm>
            <a:off x="8709660" y="2999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046720" y="3657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抗混淆 + 隐私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92440" y="404164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视觉对抗以截图为准；外部 CDN 须显式授权，隐私优先。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241280" y="27432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15244A"/>
          </a:solidFill>
          <a:ln w="12700">
            <a:solidFill>
              <a:srgbClr val="2A3C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41380" y="2999232"/>
            <a:ext cx="548640" cy="548640"/>
          </a:xfrm>
          <a:prstGeom prst="ellipse">
            <a:avLst/>
          </a:prstGeom>
          <a:solidFill>
            <a:srgbClr val="16C79A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1380" y="2999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378440" y="36576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 &amp; 可验证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424160" y="4041648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iframe 自愈、内存护栏、增量 diff；_sim 31+ 用例守护每次构建。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ecosystem/src/chaoxing-force-play  ·  perception/  ·  build-force-play.ps1  ·  _sim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网课强制续播系统 · 架构与设计</dc:title>
  <dc:subject>PptxGenJS Presentation</dc:subject>
  <dc:creator>Architecture Team</dc:creator>
  <cp:lastModifiedBy>Architecture Team</cp:lastModifiedBy>
  <cp:revision>1</cp:revision>
  <dcterms:created xsi:type="dcterms:W3CDTF">2026-08-16T10:13:07Z</dcterms:created>
  <dcterms:modified xsi:type="dcterms:W3CDTF">2026-08-16T10:13:07Z</dcterms:modified>
</cp:coreProperties>
</file>